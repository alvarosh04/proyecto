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2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84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5A2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Transformación Digital 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Alta Disponibilidad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"La Solución" · Villamanrique de la Condesa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 ·  HAProxy  ·  Keepalived  ·  Stack LAMP  ·  PHP/MySQL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Sánchez Hidalgo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I.E.S. La Marisma · Huelva   |   C.F.G.S. ASIR   |   Curso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El negocio: La Solución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57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57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La solución técnica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57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788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Arquitectura del sistema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57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383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Tecnologías utilizadas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457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Implementación: HAProxy y Keepalived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57200" cy="384048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46320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Implementación: Base de datos y web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600200"/>
            <a:ext cx="457200" cy="384048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Pruebas superadas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457200" cy="384048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194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Presupuesto y viabilidad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2788920"/>
            <a:ext cx="457200" cy="384048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46320" y="2788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788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Demostración en vivo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383280"/>
            <a:ext cx="457200" cy="384048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84632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383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</a:rPr>
              <a:t>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EL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· Villamanrique de la Condesa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300" dirty="0">
                <a:solidFill>
                  <a:srgbClr val="1A2E4A"/>
                </a:solidFill>
              </a:rPr>
              <a:t>Negocio familiar de comida </a:t>
            </a:r>
            <a:r>
              <a:rPr lang="en-US" sz="1300" dirty="0" err="1">
                <a:solidFill>
                  <a:srgbClr val="1A2E4A"/>
                </a:solidFill>
              </a:rPr>
              <a:t>casera</a:t>
            </a:r>
            <a:r>
              <a:rPr lang="en-US" sz="1300" dirty="0">
                <a:solidFill>
                  <a:srgbClr val="1A2E4A"/>
                </a:solidFill>
              </a:rPr>
              <a:t> </a:t>
            </a:r>
            <a:r>
              <a:rPr lang="en-US" sz="1300" dirty="0" err="1">
                <a:solidFill>
                  <a:srgbClr val="1A2E4A"/>
                </a:solidFill>
              </a:rPr>
              <a:t>diaria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300" dirty="0" err="1">
                <a:solidFill>
                  <a:srgbClr val="1A2E4A"/>
                </a:solidFill>
              </a:rPr>
              <a:t>Menú</a:t>
            </a:r>
            <a:r>
              <a:rPr lang="en-US" sz="1300" dirty="0">
                <a:solidFill>
                  <a:srgbClr val="1A2E4A"/>
                </a:solidFill>
              </a:rPr>
              <a:t> </a:t>
            </a:r>
            <a:r>
              <a:rPr lang="en-US" sz="1300" dirty="0" err="1">
                <a:solidFill>
                  <a:srgbClr val="1A2E4A"/>
                </a:solidFill>
              </a:rPr>
              <a:t>que</a:t>
            </a:r>
            <a:r>
              <a:rPr lang="en-US" sz="1300" dirty="0">
                <a:solidFill>
                  <a:srgbClr val="1A2E4A"/>
                </a:solidFill>
              </a:rPr>
              <a:t> cambia </a:t>
            </a:r>
            <a:r>
              <a:rPr lang="en-US" sz="1300" dirty="0" err="1">
                <a:solidFill>
                  <a:srgbClr val="1A2E4A"/>
                </a:solidFill>
              </a:rPr>
              <a:t>cada</a:t>
            </a:r>
            <a:r>
              <a:rPr lang="en-US" sz="1300" dirty="0">
                <a:solidFill>
                  <a:srgbClr val="1A2E4A"/>
                </a:solidFill>
              </a:rPr>
              <a:t> día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300" dirty="0">
                <a:solidFill>
                  <a:srgbClr val="1A2E4A"/>
                </a:solidFill>
              </a:rPr>
              <a:t>Encargos personalizados con 48h de antelación mínima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300" dirty="0">
                <a:solidFill>
                  <a:srgbClr val="1A2E4A"/>
                </a:solidFill>
              </a:rPr>
              <a:t>Canal de ventas único: teléfono</a:t>
            </a:r>
            <a:endParaRPr lang="en-US" sz="15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622B394-DA69-2D59-7A95-D2611F72D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2198846" cy="39090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07F90B6-27E7-6EF4-6710-D7F99C21D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846" y="1143000"/>
            <a:ext cx="2198846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problemas críticos sin resolver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Saturación telefónica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 línea colapsaba entre las 12:00 y las 14:00 → pérdida directa de clientes e ingresos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Sin canal digital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El menú cambiaba cada día pero no había forma de consultarlo online. Impresión de folletos cada mañana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Datos en papel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Los pedidos se anotaban en un cuaderno físico sin copia de seguridad → riesgo de pérdida total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LA SOLUCIÓN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pilares · 100% Software Libre · 0€ en licencias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</a:rPr>
              <a:t>Alta Disponibilidad Real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2 nodos web + balanceador con IP Virtual. Failover automático en menos de 2 segundos gracias a Keepalived + VRRP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18688" y="1371600"/>
            <a:ext cx="2743200" cy="73152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18688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</a:rPr>
              <a:t>Aplicación Web Dinámica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8346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Menú en tiempo real desde MySQL. Panel admin.php para gestión sin conocimientos técnicos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743200" cy="73152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63056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54496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</a:rPr>
              <a:t>Backups Automáticos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mysqldump + Cron cada noche a las 03:00 AM replicado entre nodos. Datos siempre protegidos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350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</a:rPr>
              <a:t>Los 3 nodos sobre Proxmox VE · marisma002 · pool 2ASIR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846240"/>
              </p:ext>
            </p:extLst>
          </p:nvPr>
        </p:nvGraphicFramePr>
        <p:xfrm>
          <a:off x="392400" y="1947240"/>
          <a:ext cx="5623560" cy="149961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srv-web-01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Web Principal (LAMP)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192.168.195.10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srv-web-02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Web Secundario (LAMP)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192.168.195.20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srv-haproxy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Balanceador + VIP .100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192.168.195.30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92400" y="1947240"/>
            <a:ext cx="530352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09982"/>
              </p:ext>
            </p:extLst>
          </p:nvPr>
        </p:nvGraphicFramePr>
        <p:xfrm>
          <a:off x="392400" y="1951200"/>
          <a:ext cx="5623560" cy="34351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392400" y="345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Rsync sincroniza archivos web cada minuto  ·  bridge vmbr9998  ·  Ubuntu Server 24.04 LTS sin GUI</a:t>
            </a:r>
            <a:endParaRPr lang="en-US" sz="1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2663B2F-EDDA-A27A-ABB4-E55EE7BA4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936" y="2058653"/>
            <a:ext cx="2757019" cy="1166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TECNOLOGÍAS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Stack tecnológico 100% Open Source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64008" cy="10515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Proxmox 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Hipervisor empresarial KVM sobre Debian. Gestión centralizada de las 3 VMs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64008" cy="10515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Ubuntu Server 24.04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Sin GUI, instalación mínima → menor consumo y menor superficie de ataque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64008" cy="10515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94360" y="3730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Apache + PHP 8.3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096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Servidor web + lenguaje de la aplicación dinámica en srv-web-01 y srv-web-02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64008" cy="10515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98348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MySQL 8.0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Tablas menu_dia y encargos. Usuario 'rociosolucion' con privilegios mínimos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846320" y="2468880"/>
            <a:ext cx="64008" cy="10515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98348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HAProxy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907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Balanceo roundrobin + health checks cada 2s. Marca DOWN tras 3 fallos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64008" cy="10515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983480" y="3730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Keepalived + VRRP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096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IP Virtual 192.168.195.100. Failover en menos de 2 segundos automáticamente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</a:rPr>
              <a:t>HAProxy + Keepalived: Alta Disponibilidad real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HAProxy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Instalado en srv-haproxy (192.168.195.30)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Balanceo roundrobin entre srv-web-01 y srv-web-02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Health check GET / cada 2 segundos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3 fallos → nodo marcado DOWN automáticamente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Puerto 80 TCP permitido en UFW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Keepalived + VRRP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VIP: 192.168.195.100 flotante entre nodos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MASTER: srv-haproxy (prioridad 110)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BACKUP: srv-web-01 (prioridad 100)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Failover en menos de 2 segundos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⚠️ Puerto 112 TCP/UDP en UFW → imprescindible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3657600" cy="1371600"/>
          </a:xfrm>
          <a:prstGeom prst="rect">
            <a:avLst/>
          </a:prstGeom>
          <a:solidFill>
            <a:srgbClr val="D4E6F1"/>
          </a:solidFill>
          <a:ln w="19050">
            <a:solidFill>
              <a:srgbClr val="2980B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📷 09_haproxy_cfg_configuracion.png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Archivo haproxy.cfg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0440"/>
            <a:ext cx="4023360" cy="1371600"/>
          </a:xfrm>
          <a:prstGeom prst="rect">
            <a:avLst/>
          </a:prstGeom>
          <a:solidFill>
            <a:srgbClr val="D4E6F1"/>
          </a:solidFill>
          <a:ln w="19050">
            <a:solidFill>
              <a:srgbClr val="2980B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📷 08_keepalived_activo_BACKUP_STATE.png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Keepalived en BACKUP STATE</a:t>
            </a:r>
            <a:endParaRPr lang="en-US" sz="11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82876BD8-C204-DC30-90B0-2D5907D75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5" y="3246120"/>
            <a:ext cx="4169665" cy="174488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D4E724A0-377F-3038-ECAF-817C64D1F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15282"/>
            <a:ext cx="4517135" cy="1775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</a:rPr>
              <a:t>Base de datos MySQL y aplicación web dinámica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01852"/>
            <a:ext cx="365760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75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 — Datos del negocio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Tabla menu_dia: platos del día + descripción + fecha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5708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Tabla encargos: pedidos con estado (pendiente/confirmado/entregado)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86053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Usuario 'rociosolucion' con privilegios mínimos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765529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Sincronización nocturna via mysqldump sobre SSH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094979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Backups automáticos con Cron a las 03:00 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📷 03_mysql_tablas_creadas.png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Tablas menu_dia con platos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28616" y="1101852"/>
            <a:ext cx="3840480" cy="347472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960620" y="11018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Portal Web — index.php + admin.php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52060" y="1554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Platos del día desde MySQL en tiempo real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195708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Tarjetas con efecto flip 3D al pasar el ratón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235027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Botones WhatsApp para pedidos y encargos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2754861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admin.php: añadir/eliminar platos sin editar código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3104123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</a:rPr>
              <a:t>● </a:t>
            </a:r>
            <a:r>
              <a:rPr lang="en-US" sz="1100" dirty="0">
                <a:solidFill>
                  <a:srgbClr val="1A2E4A"/>
                </a:solidFill>
              </a:rPr>
              <a:t>Seguridad: real_escape_string() + htmlspecialchars()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📷 01_portal_web_La_Solucion.png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Portal web con los platos</a:t>
            </a:r>
            <a:endParaRPr lang="en-US" sz="11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9967329-5BE6-6DD2-5944-BCA72159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83333"/>
            <a:ext cx="3750729" cy="153912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43E2837-0579-DBBA-CC89-0DB03CB29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469883"/>
            <a:ext cx="4105656" cy="15615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APLICACIÓN WEB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9613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Panel de administración — admin.php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📷 06_panel_admin_php.png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Panel admin con listado de platos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📷 07_admin_plato_añadido.png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980B9"/>
                </a:solidFill>
              </a:rPr>
              <a:t>Confirmación plato añadido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Añadir plato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727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Formulario nombre + descripción. Fecha asignada automáticamente con CURDATE()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Ver platos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5328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Tabla con todos los platos activos, descripción y fecha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154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Eliminar plato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4930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Borra el registro de MySQL inmediatamente y actualiza la web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Seguridad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453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real_escape_string(), htmlspecialchars(), intval() y usuario MySQL con privilegios mínimos</a:t>
            </a:r>
            <a:endParaRPr lang="en-US" sz="1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F049E94-5112-3684-2B1B-7A906C07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9676"/>
            <a:ext cx="4315968" cy="233927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F817D4C-CE8D-AA92-DF1D-51568C097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173296"/>
            <a:ext cx="4315968" cy="1782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DIFICULTADES Y SOLUCIONES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Principales retos resueltos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VRRP bloqueado por UFW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❌ Keepalived no transfería la VIP (split-brain)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234440"/>
            <a:ext cx="64008" cy="86868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5780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B4E"/>
                </a:solidFill>
              </a:rPr>
              <a:t>✅ Abrir puertos 112/tcp y 112/udp en UFW en ambos nodos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64008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2221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Permisos Rsync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❌ /var/www/html pertenecía a root → Rsync no podía escribir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64008" cy="86868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25780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B4E"/>
                </a:solidFill>
              </a:rPr>
              <a:t>✅ chown -R alvaro:alvaro /var/www/html/ en srv-web-02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64008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0080" y="3182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mysqldump en Cron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❌ Cron no hereda el PATH → error 'Access denied'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154680"/>
            <a:ext cx="64008" cy="86868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25780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B4E"/>
                </a:solidFill>
              </a:rPr>
              <a:t>✅ Usar sudo crontab -e y rutas absolutas /usr/bin/mysqldump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64008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0080" y="4142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HAProxy DOWN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❌ UFW bloqueaba conexiones desde srv-haproxy a los nodos web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4114800"/>
            <a:ext cx="64008" cy="86868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25780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B4E"/>
                </a:solidFill>
              </a:rPr>
              <a:t>✅ ufw allow from 192.168.195.30 en srv-web-01 y srv-web-02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PRESUPUESTO Y VIABILIDAD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Inversión total: 1.748,45 € (IVA incl.)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s-E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38404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502920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Mini PC Intel N100 + Switch + Cables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Proxmox, Ubuntu, Apache, MySQL, PHP, HAProxy...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Mano de obra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Adm. Sistemas Junior ~47h × 20€/h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1.445,00 €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303,45 €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1.748,45 €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1188720"/>
            <a:ext cx="3108960" cy="384048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5760720" y="1188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Retorno de la inversión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76072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200" dirty="0">
                <a:solidFill>
                  <a:srgbClr val="1A2E4A"/>
                </a:solidFill>
              </a:rPr>
              <a:t>0€ en licencias de software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760720" y="21671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200" dirty="0">
                <a:solidFill>
                  <a:srgbClr val="1A2E4A"/>
                </a:solidFill>
              </a:rPr>
              <a:t>Elimina pérdida de comandas en papel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60720" y="26426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200" dirty="0">
                <a:solidFill>
                  <a:srgbClr val="1A2E4A"/>
                </a:solidFill>
              </a:rPr>
              <a:t>Continuidad de negocio 24/7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60720" y="3118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200" dirty="0">
                <a:solidFill>
                  <a:srgbClr val="1A2E4A"/>
                </a:solidFill>
              </a:rPr>
              <a:t>Sin coste de mantenimiento externo inicial</a:t>
            </a:r>
            <a:endParaRPr lang="en-US" sz="1500" dirty="0"/>
          </a:p>
        </p:txBody>
      </p:sp>
      <p:sp>
        <p:nvSpPr>
          <p:cNvPr id="6" name="Text 10"/>
          <p:cNvSpPr/>
          <p:nvPr/>
        </p:nvSpPr>
        <p:spPr>
          <a:xfrm>
            <a:off x="5760720" y="3593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B4E"/>
                </a:solidFill>
              </a:rPr>
              <a:t>● </a:t>
            </a:r>
            <a:r>
              <a:rPr lang="en-US" sz="1200" dirty="0">
                <a:solidFill>
                  <a:srgbClr val="1A2E4A"/>
                </a:solidFill>
              </a:rPr>
              <a:t>Escala a hardware real por ~505€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Demostración en Vivo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8E8"/>
                </a:solidFill>
              </a:rPr>
              <a:t>A continuación verás el sistema funcionando en tiempo real sobre las máquinas virtuales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9B4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Portal web "La Solución"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</a:rPr>
              <a:t>Acceso desde navegador a http://192.168.195.100 — platos en tiempo real desde MySQL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41448"/>
            <a:ext cx="8412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9B4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Panel de administración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</a:rPr>
              <a:t>Añadir un nuevo plato del día desde admin.php — visible inmediatamente en la web pública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82696"/>
            <a:ext cx="8412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9B4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3101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Failover automático — Keepalived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6027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</a:rPr>
              <a:t>Apagar srv-haproxy → VIP migra a srv-web-01 en menos de 2 segundos sin intervención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123944"/>
            <a:ext cx="8412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9B4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7200" y="41513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4️⃣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Caída de nodo web — HAProxy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4439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</a:rPr>
              <a:t>Apagar srv-web-01 → HAProxy redirige a srv-web-02 en 6 segundos sin interrupción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9B4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5A2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Failover 100% automático: la VIP migra en menos de 2 segundos sin intervención humana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Panel de gestión intuitivo: la propietaria gestiona el menú diario sin conocimientos técnicos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Coste de licencias 0€: solución de alta disponibilidad empresarial con Software Libre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841248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Continuidad 24/7: datos protegidos y servicio garantizado para el negocio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35478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B4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Integración real del ciclo ASIR: virtualización, redes, seguridad, Linux, web y bases de datos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"Tecnología empresarial de alta disponibilidad al servicio de un negocio familiar, con coste cero de licencias"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1265</Words>
  <Application>Microsoft Office PowerPoint</Application>
  <PresentationFormat>Presentación en pantalla (16:9)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TFG - Infraestructura Alta Disponibilidad La Solución</dc:title>
  <dc:subject>PptxGenJS Presentation</dc:subject>
  <dc:creator>Álvaro Sánchez Hidalgo</dc:creator>
  <cp:lastModifiedBy>Álvaro Sánchez hidalgo</cp:lastModifiedBy>
  <cp:revision>3</cp:revision>
  <dcterms:created xsi:type="dcterms:W3CDTF">2026-05-11T10:54:47Z</dcterms:created>
  <dcterms:modified xsi:type="dcterms:W3CDTF">2026-05-13T10:53:29Z</dcterms:modified>
</cp:coreProperties>
</file>